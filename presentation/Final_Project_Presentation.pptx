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E-Commerce Sales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196F3"/>
                </a:solidFill>
              </a:rPr>
              <a:t>and Interactive Power BI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291840"/>
            <a:ext cx="5788152" cy="54864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Week 6 Internship Assignment — Data Analytics Capstone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196F3"/>
                </a:solidFill>
              </a:rPr>
              <a:t>Student: [Your Name] |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Tools: Python | Pandas | Matplotlib | Seaborn | Power BI | Git/GitHub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9800"/>
                </a:solidFill>
              </a:rPr>
              <a:t>⚠ Dataset: Synthetically generated for educational purposes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Problem Statement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E-Commerce Sales Analysis | Week 6 Internship Assignment | Synthetic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Slide 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530352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</a:rP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</a:rPr>
              <a:t>Businesses need data-driven decisions but lack clear visibility into:
• Which products and categories are truly profitable?
• How do discounts impact the bottom line?
• Which regions and customer segments drive growth?
• What seasonal patterns should drive inventory planning?
This project builds a complete analytics solution to answer these questions.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280160"/>
            <a:ext cx="59436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37160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</a:rPr>
              <a:t>Project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920240"/>
            <a:ext cx="5577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</a:rPr>
              <a:t>1. Analyze sales and profit performance
2. Identify high/low performing products
3. Examine monthly and yearly trends
4. Study regional &amp; segment performance
5. Investigate discount-profit relationship
6. Create 8+ Python visualizations
7. Build interactive Power BI dashboard
8. Generate 5+ business insights
9. Provide actionable recommendations
10. Publish project on GitHub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96F3"/>
                </a:solidFill>
              </a:rPr>
              <a:t>Synthetic Sample Superstore-Style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46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E-Commerce Sales Analysis | Week 6 Internship Assignment | Synthetic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Slide 3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2651760" cy="14630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5544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9,994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3317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Records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371600"/>
            <a:ext cx="2651760" cy="14630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5544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3317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Original Columns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2651760" cy="14630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5544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3317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After Feature Engineering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371600"/>
            <a:ext cx="2651760" cy="14630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15544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2020-2023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3317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Date Range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017520"/>
            <a:ext cx="530352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108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</a:rPr>
              <a:t>Dataset Fields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56616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24242"/>
                </a:solidFill>
              </a:rPr>
              <a:t>Order ID, Order Date, Ship Date, Ship Mode
Customer ID, Segment, Country, Region
State, City, Category, Sub-Category
Product ID, Product Name
Sales, Quantity, Discount, Profit
+ Derived: Year, Month, Quarter, Margin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3017520"/>
            <a:ext cx="594360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31089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</a:rPr>
              <a:t>Data Quality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566160"/>
            <a:ext cx="5577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24242"/>
                </a:solidFill>
              </a:rPr>
              <a:t>Raw rows:       9,997
After cleaning: 9,994 (-3 duplicates)
Missing Ship Dates: 12 (retained)
Invalid records:    0 removed
Duplicates removed: 3
Source: Synthetically generated
Seed: 42 (fully reproducible)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Data Cleaning &amp;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96F3"/>
                </a:solidFill>
              </a:rPr>
              <a:t>src/data_cleaning.py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46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E-Commerce Sales Analysis | Week 6 Internship Assignment | Synthetic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Slide 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2651760" cy="16459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173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7451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Load 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860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UTF-8 with fallback encoding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371600"/>
            <a:ext cx="2651760" cy="16459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4173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87451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Inspect 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2860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Shape, dtypes, column names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371600"/>
            <a:ext cx="2651760" cy="16459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4173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87451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Missing Values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2860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12 Ship Dates retained as valid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1371600"/>
            <a:ext cx="2651760" cy="16459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4173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7451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Duplicate Removal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2860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3 exact duplicates removed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2651760" cy="16459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4290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8862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Date Parsing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2976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DD/MM/YYYY → datetime64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3383280"/>
            <a:ext cx="2651760" cy="16459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0" y="34290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38862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Validation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42976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Sales&gt;0, Discount in [0,1]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3383280"/>
            <a:ext cx="2651760" cy="16459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34290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38862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2976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Year, Month, Quarter, Margin%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52560" y="3383280"/>
            <a:ext cx="2651760" cy="16459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4290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8862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Export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2976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data/cleaned_sales.csv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394960"/>
            <a:ext cx="11430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4406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237E"/>
                </a:solidFill>
              </a:rPr>
              <a:t>Outlier Decision: 1,733 potential outliers RETAINED — represent legitimate bulk/high-value orders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Exploratory Data Analysis — Key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E-Commerce Sales Analysis | Week 6 Internship Assignment | Synthetic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Slide 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2651760" cy="12801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4173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$33.17M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103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Total Sales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280160"/>
            <a:ext cx="2651760" cy="12801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4173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$3.64M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103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Total Profit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280160"/>
            <a:ext cx="2651760" cy="12801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4173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9,070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103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Total Orders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280160"/>
            <a:ext cx="2651760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14173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11.0%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103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Profit Margin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743200"/>
            <a:ext cx="356616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834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7E"/>
                </a:solidFill>
              </a:rPr>
              <a:t>By 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2918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</a:rPr>
              <a:t>Technology: $25.02M
Furniture: $6.86M
Office Supplies: $1.30M
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2743200"/>
            <a:ext cx="356616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2834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7E"/>
                </a:solidFill>
              </a:rPr>
              <a:t>By Region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32918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</a:rPr>
              <a:t>West: $10.05M
East: $9.28M
South: $7.21M
Central: $6.63M
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2743200"/>
            <a:ext cx="393192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2834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7E"/>
                </a:solidFill>
              </a:rPr>
              <a:t>By Segment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329184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</a:rPr>
              <a:t>Consumer: $17.59M (53%)
Corporate: $10.18M (31%)
Home Office: $5.40M (16%)
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Data Visualizations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96F3"/>
                </a:solidFill>
              </a:rPr>
              <a:t>10 charts generated from cleaned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46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E-Commerce Sales Analysis | Week 6 Internship Assignment | Synthetic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Slide 6</a:t>
            </a:r>
          </a:p>
        </p:txBody>
      </p:sp>
      <p:pic>
        <p:nvPicPr>
          <p:cNvPr id="9" name="Picture 8" descr="01_sales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3749039" cy="2377440"/>
          </a:xfrm>
          <a:prstGeom prst="rect">
            <a:avLst/>
          </a:prstGeom>
        </p:spPr>
      </p:pic>
      <p:pic>
        <p:nvPicPr>
          <p:cNvPr id="10" name="Picture 9" descr="02_monthly_sales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280160"/>
            <a:ext cx="7863840" cy="2377440"/>
          </a:xfrm>
          <a:prstGeom prst="rect">
            <a:avLst/>
          </a:prstGeom>
        </p:spPr>
      </p:pic>
      <p:pic>
        <p:nvPicPr>
          <p:cNvPr id="11" name="Picture 10" descr="05_discount_vs_prof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749039"/>
            <a:ext cx="3749039" cy="2651760"/>
          </a:xfrm>
          <a:prstGeom prst="rect">
            <a:avLst/>
          </a:prstGeom>
        </p:spPr>
      </p:pic>
      <p:pic>
        <p:nvPicPr>
          <p:cNvPr id="12" name="Picture 11" descr="06_correlation_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3749039"/>
            <a:ext cx="3749039" cy="2651760"/>
          </a:xfrm>
          <a:prstGeom prst="rect">
            <a:avLst/>
          </a:prstGeom>
        </p:spPr>
      </p:pic>
      <p:pic>
        <p:nvPicPr>
          <p:cNvPr id="13" name="Picture 12" descr="07_top10_produc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3749039"/>
            <a:ext cx="393192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Power BI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96F3"/>
                </a:solidFill>
              </a:rPr>
              <a:t>E-Commerce Sales &amp; Profitability 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46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E-Commerce Sales Analysis | Week 6 Internship Assignment | Synthetic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Slide 7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1143000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11247120" cy="6400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E-Commerce Sales &amp; Profitability Analytics Dashboard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03120"/>
            <a:ext cx="2560320" cy="10058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194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$33.17M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697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Total Sales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103120"/>
            <a:ext cx="2560320" cy="10058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2194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$3.64M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697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Total Profit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03120"/>
            <a:ext cx="2560320" cy="10058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2194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9,070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697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Total Orders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2103120"/>
            <a:ext cx="2560320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0" y="2194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10.98%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697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Profit Margin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246120"/>
            <a:ext cx="11247120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27355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Monthly Sales Trend (Line Chart)  |  Sales by Category (Bar)  |  Profit by Region (Bar)  |  Segment (Donut)  |  Top 10 Products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566160"/>
            <a:ext cx="11247120" cy="7315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611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237E"/>
                </a:solidFill>
              </a:rPr>
              <a:t>Slicers: [Order Date]  [Region ▼]  [Category ▼]  [Customer Segment ▼]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4348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44336"/>
                </a:solidFill>
              </a:rPr>
              <a:t>Note: Power BI Desktop is required to build the .pbix file.
Setup guide: docs/powerbi_setup_guide.md | DAX measures: docs/powerbi_dax_measures.md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Business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96F3"/>
                </a:solidFill>
              </a:rPr>
              <a:t>Evidence-based findings from data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46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E-Commerce Sales Analysis | Week 6 Internship Assignment | Synthetic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Slide 8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3566160" cy="19202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1. Discount-Profit Crisis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116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Discount ↔ Profit Margin correlation = -0.854
Discounts &gt;20% consistently generate losses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371600"/>
            <a:ext cx="3566160" cy="19202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14630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2. Technology Leads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20116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Highest transaction count (3,389)
Copiers sub-category: ~38% margin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566160" cy="19202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4630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3. Tables Sub-Category Loses Money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0116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Structural negative margin
Losses worsen with any discount applied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566160"/>
            <a:ext cx="3566160" cy="19202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6576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4. Q4 Seasonal Peak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2062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Nov &amp; Dec are highest revenue months
Jan &amp; Feb are consistently weakest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3566160"/>
            <a:ext cx="3566160" cy="192024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79" y="36576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5. Corporate Segment Underserved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79" y="42062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30% of transactions, but higher order values
Growth potential vs Consumer segment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3566160"/>
            <a:ext cx="3566160" cy="192024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36576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6. West &amp; East Dominate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2062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2,977 and 2,777 transactions respectively
Central &amp; South have room to grow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Business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96F3"/>
                </a:solidFill>
              </a:rPr>
              <a:t>Data-driven actions for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46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E-Commerce Sales Analysis | Week 6 Internship Assignment | Synthetic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Slide 9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3657600" cy="475488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3716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Recommendation 1: Discount Governance 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1031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Cap all discounts at 20% without CFO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8803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Eliminate 30-50% discount tiers from standard campaigns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6576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Replace heavy discounts with value bundles (buy 3 get 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44348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Monitor discount-profit in real time via Power BI dashboard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440680"/>
            <a:ext cx="365760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546811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Low complexity | High impact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280160"/>
            <a:ext cx="3657600" cy="47548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13716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Recommendation 2: Corporate Segment Growth 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1031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Identify top 100 Corporate customers by lifetime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8803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Assign dedicated account managers to key accounts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6576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Offer volume pricing tiers (within margin guardrails)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4348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Launch 'Corporate Preferred' program with faster shipping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5440680"/>
            <a:ext cx="365760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79" y="546811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Medium complexity | High impact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280160"/>
            <a:ext cx="3657600" cy="4754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13716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Recommendation 3: Fix Tables Sub-Category Pricing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1031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Conduct COGS analysis for Tables SKUs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8803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Reprice Tables to achieve minimum 5% gross margin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6576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Apply no-discount policy to all Tables immediately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4348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Consider discontinuing lowest-selling Tables SKUs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5440680"/>
            <a:ext cx="365760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546811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Low complexity | Quick win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96F3"/>
                </a:solidFill>
              </a:rPr>
              <a:t>✓  9,994 records cleaned and analyzed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AF50"/>
                </a:solidFill>
              </a:rPr>
              <a:t>✓  10 professional visualizations generated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945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9800"/>
                </a:solidFill>
              </a:rPr>
              <a:t>✓  10.98% overall profit margin identified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6032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✓  Key insight: Discounts above 20% are loss-making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9260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96F3"/>
                </a:solidFill>
              </a:rPr>
              <a:t>✓  3 actionable recommendations provided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918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AF50"/>
                </a:solidFill>
              </a:rPr>
              <a:t>✓  Power BI dashboard preparation 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65760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9800"/>
                </a:solidFill>
              </a:rPr>
              <a:t>✓  GitHub documentation ready for submission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9800"/>
                </a:solidFill>
              </a:rPr>
              <a:t>Questions &amp; Discussion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