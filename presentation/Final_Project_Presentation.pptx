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</a:rPr>
              <a:t>E-Commerce Sales Data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9202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0">
                <a:solidFill>
                  <a:srgbClr val="2196F3"/>
                </a:solidFill>
              </a:rPr>
              <a:t>and Interactive Power BI Dashboard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3291840"/>
            <a:ext cx="5788152" cy="54864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</a:rPr>
              <a:t>Week 6 Internship Assignment — Data Analytics Capstone Project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148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196F3"/>
                </a:solidFill>
              </a:rPr>
              <a:t>Student: Tushar Marathe | Organization: Internova |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48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</a:rPr>
              <a:t>Tools: Python | Pandas | Matplotlib | Seaborn | Power BI | Git/GitHub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FF9800"/>
                </a:solidFill>
              </a:rPr>
              <a:t>⚠ Dataset: Synthetically generated for educational purposes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Problem Statement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2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530352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937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Problem Statement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2024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24242"/>
                </a:solidFill>
              </a:rPr>
              <a:t>Businesses need data-driven decisions but lack clear visibility into:
• Which products and categories are truly profitable?
• How do discounts impact the bottom line?
• Which regions and customer segments drive growth?
• What seasonal patterns should drive inventory planning?
This project builds a complete analytics solution to answer these questions.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0" y="1280160"/>
            <a:ext cx="5943600" cy="4389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137160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237E"/>
                </a:solidFill>
              </a:rPr>
              <a:t>Project Objectives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920240"/>
            <a:ext cx="55778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24242"/>
                </a:solidFill>
              </a:rPr>
              <a:t>1. Analyze sales and profit performance
2. Identify high/low performing products
3. Examine monthly and yearly trends
4. Study regional &amp; segment performance
5. Investigate discount-profit relationship
6. Create 8+ Python visualizations
7. Build interactive Power BI dashboard
8. Generate 5+ business insights
9. Provide actionable recommendations
10. Publish project on GitHub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Synthetic Sample Superstore-Style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3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2651760" cy="14630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9,994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3317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Records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371600"/>
            <a:ext cx="2651760" cy="14630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3317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Original Columns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371600"/>
            <a:ext cx="2651760" cy="14630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23317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After Feature Engineering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52560" y="1371600"/>
            <a:ext cx="2651760" cy="14630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52560" y="1554480"/>
            <a:ext cx="2651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</a:rPr>
              <a:t>2020-2023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33172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Date Range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017520"/>
            <a:ext cx="530352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31089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Dataset Fields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3566160"/>
            <a:ext cx="49377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24242"/>
                </a:solidFill>
              </a:rPr>
              <a:t>Order ID, Order Date, Ship Date, Ship Mode
Customer ID, Segment, Country, Region
State, City, Category, Sub-Category
Product ID, Product Name
Sales, Quantity, Discount, Profit
+ Derived: Year, Month, Quarter, Margin 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0" y="3017520"/>
            <a:ext cx="5943600" cy="3017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0" y="31089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37E"/>
                </a:solidFill>
              </a:rPr>
              <a:t>Data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3566160"/>
            <a:ext cx="55778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24242"/>
                </a:solidFill>
              </a:rPr>
              <a:t>Raw rows:       9,997
After cleaning: 9,994 (-3 duplicates)
Missing Ship Dates: 12 (retained)
Invalid records:    0 removed
Duplicates removed: 3
Source: Synthetically generated
Seed: 42 (fully reproducible)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 Cleaning &amp; Preparation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src/data_cleaning.py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4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2651760" cy="1645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87451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Load Dataset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UTF-8 with fallback encoding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71600"/>
            <a:ext cx="2651760" cy="1645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4173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187451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Inspect Structure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Shape, dtypes, column names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371600"/>
            <a:ext cx="2651760" cy="16459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0" y="14173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187451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12 Ship Dates retained as valid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52560" y="1371600"/>
            <a:ext cx="2651760" cy="16459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4173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1874519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Duplicate Removal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28600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3 exact duplicates removed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2651760" cy="16459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4290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3886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Date Parsing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42976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DD/MM/YYYY → datetime64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0" y="3383280"/>
            <a:ext cx="2651760" cy="164592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4290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3886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2976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Sales&gt;0, Discount in [0,1]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3383280"/>
            <a:ext cx="2651760" cy="16459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0" y="34290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17920" y="3886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Feature Engineering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42976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Year, Month, Quarter, Margin%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52560" y="3383280"/>
            <a:ext cx="2651760" cy="16459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0" y="342900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886200"/>
            <a:ext cx="2468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</a:rPr>
              <a:t>Export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297680"/>
            <a:ext cx="2468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</a:rPr>
              <a:t>data/cleaned_sales.csv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74320" y="5394960"/>
            <a:ext cx="11430000" cy="7315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4406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37E"/>
                </a:solidFill>
              </a:rPr>
              <a:t>Outlier Decision: 1,733 potential outliers RETAINED — represent legitimate bulk/high-value orders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Exploratory Data Analysis — Key Findings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5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280160"/>
            <a:ext cx="2651760" cy="128016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14173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$33.17M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Total Sales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1280160"/>
            <a:ext cx="2651760" cy="128016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00400" y="14173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$3.64M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Total Profit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80160"/>
            <a:ext cx="2651760" cy="128016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4173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9,070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Total Orders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52560" y="1280160"/>
            <a:ext cx="2651760" cy="12801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52560" y="141732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11.0%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103120"/>
            <a:ext cx="2651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</a:rPr>
              <a:t>Profit Margin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74320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By Category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24242"/>
                </a:solidFill>
              </a:rPr>
              <a:t>Technology: $25.02M
Furniture: $6.86M
Office Supplies: $1.30M
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0" y="274320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80" y="28346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By Region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32918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24242"/>
                </a:solidFill>
              </a:rPr>
              <a:t>West: $10.05M
East: $9.28M
South: $7.21M
Central: $6.63M
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55279" y="2743200"/>
            <a:ext cx="3931920" cy="32918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2834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</a:rPr>
              <a:t>By Segment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329184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24242"/>
                </a:solidFill>
              </a:rPr>
              <a:t>Consumer: $17.59M (53%)
Corporate: $10.18M (31%)
Home Office: $5.40M (16%)
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Data Visualizations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10 charts generated from cleaned dataset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6</a:t>
            </a:r>
          </a:p>
        </p:txBody>
      </p:sp>
      <p:pic>
        <p:nvPicPr>
          <p:cNvPr id="9" name="Picture 8" descr="01_sales_by_categ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280160"/>
            <a:ext cx="3749039" cy="2377440"/>
          </a:xfrm>
          <a:prstGeom prst="rect">
            <a:avLst/>
          </a:prstGeom>
        </p:spPr>
      </p:pic>
      <p:pic>
        <p:nvPicPr>
          <p:cNvPr id="10" name="Picture 9" descr="02_monthly_sales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1280160"/>
            <a:ext cx="7863840" cy="2377440"/>
          </a:xfrm>
          <a:prstGeom prst="rect">
            <a:avLst/>
          </a:prstGeom>
        </p:spPr>
      </p:pic>
      <p:pic>
        <p:nvPicPr>
          <p:cNvPr id="11" name="Picture 10" descr="05_discount_vs_pro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" y="3749039"/>
            <a:ext cx="3749039" cy="2651760"/>
          </a:xfrm>
          <a:prstGeom prst="rect">
            <a:avLst/>
          </a:prstGeom>
        </p:spPr>
      </p:pic>
      <p:pic>
        <p:nvPicPr>
          <p:cNvPr id="12" name="Picture 11" descr="06_correlation_heat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0" y="3749039"/>
            <a:ext cx="3749039" cy="2651760"/>
          </a:xfrm>
          <a:prstGeom prst="rect">
            <a:avLst/>
          </a:prstGeom>
        </p:spPr>
      </p:pic>
      <p:pic>
        <p:nvPicPr>
          <p:cNvPr id="13" name="Picture 12" descr="07_top10_produ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3749039"/>
            <a:ext cx="39319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Power BI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E-Commerce Sales &amp; Profitability Analytics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7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11430000" cy="4663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11247120" cy="6400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417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</a:rPr>
              <a:t>E-Commerce Sales &amp; Profitability Analytics Dashboard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103120"/>
            <a:ext cx="2560320" cy="10058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2194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$33.17M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697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Total Sales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03120"/>
            <a:ext cx="2560320" cy="10058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0" y="2194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$3.64M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697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Total Profit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35040" y="2103120"/>
            <a:ext cx="2560320" cy="10058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35040" y="2194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9,070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2697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Total Orders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869680" y="2103120"/>
            <a:ext cx="2560320" cy="10058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0" y="219456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10.98%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69680" y="26974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Profit Margin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46120"/>
            <a:ext cx="11247120" cy="27432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273552"/>
            <a:ext cx="10972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Monthly Sales Trend (Line Chart)  |  Sales by Category (Bar)  |  Profit by Region (Bar)  |  Segment (Donut)  |  Top 10 Products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566160"/>
            <a:ext cx="11247120" cy="731520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11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237E"/>
                </a:solidFill>
              </a:rPr>
              <a:t>Slicers: [Order Date]  [Region ▼]  [Category ▼]  [Customer Segment ▼]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44336"/>
                </a:solidFill>
              </a:rPr>
              <a:t>Note: Power BI Desktop is required to build the .pbix file.
Setup guide: docs/powerbi_setup_guide.md | DAX measures: docs/powerbi_dax_measures.md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Business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Evidence-based findings from data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8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371600"/>
            <a:ext cx="3566160" cy="192024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63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1. Discount-Profit Crisis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0116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Discount ↔ Profit Margin correlation = -0.854
Discounts &gt;20% consistently generate losses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06240" y="1371600"/>
            <a:ext cx="3566160" cy="192024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79" y="1463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2. Technology Leads Revenue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79" y="20116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Highest transaction count (3,389)
Copiers sub-category: ~38% margin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566160" cy="192024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0" y="146304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3. Tables Sub-Category Loses Money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01168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Structural negative margin
Losses worsen with any discount applied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3566160"/>
            <a:ext cx="3566160" cy="19202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36576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4. Q4 Seasonal Peak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42062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Nov &amp; Dec are highest revenue months
Jan &amp; Feb are consistently weakest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06240" y="3566160"/>
            <a:ext cx="3566160" cy="192024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79" y="36576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5. Corporate Segment Underserved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79" y="42062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30% of transactions, but higher order values
Growth potential vs Consumer segment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38160" y="3566160"/>
            <a:ext cx="3566160" cy="1920240"/>
          </a:xfrm>
          <a:prstGeom prst="rect">
            <a:avLst/>
          </a:prstGeom>
          <a:solidFill>
            <a:srgbClr val="9C27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0" y="365760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6. West &amp; East Dominate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0" y="4206240"/>
            <a:ext cx="33832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2,977 and 2,777 transactions respectively
Central &amp; South have room to grow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Business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6858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Data-driven actions for management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46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E-Commerce Sales Analysis | Week 6 Internship Assignment | Synthetic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46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FFFFFF"/>
                </a:solidFill>
              </a:rPr>
              <a:t>Slide 9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280160"/>
            <a:ext cx="3657600" cy="475488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79" y="13716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Recommendation 1: Discount Governance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79" y="2103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Cap all discounts at 20% without CFO approval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28803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Eliminate 30-50% discount tiers from standard campaigns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36576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Replace heavy discounts with value bundles (buy 3 get 1)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44348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Monitor discount-profit in real time via Power BI dashboard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440680"/>
            <a:ext cx="365760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546811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Low complexity | High impact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06240" y="1280160"/>
            <a:ext cx="3657600" cy="475488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43400" y="13716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Recommendation 2: Corporate Segment Growth Strategy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2103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Identify top 100 Corporate customers by lifetime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43400" y="28803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Assign dedicated account managers to key accounts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43400" y="36576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Offer volume pricing tiers (within margin guardrails)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44348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Launch 'Corporate Preferred' program with faster shipping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5440680"/>
            <a:ext cx="365760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7679" y="546811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Medium complexity | High impact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1280160"/>
            <a:ext cx="3657600" cy="475488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75320" y="137160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</a:rPr>
              <a:t>Recommendation 3: Fix Tables Sub-Category Pricing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20" y="2103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Conduct COGS analysis for Tables SKUs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88036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Reprice Tables to achieve minimum 5% gross margin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20" y="365760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Apply no-discount policy to all Tables immediately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44348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</a:rPr>
              <a:t>• Consider discontinuing lowest-selling Tables SKUs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138160" y="5440680"/>
            <a:ext cx="3657600" cy="50292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0" y="5468112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</a:rPr>
              <a:t>Low complexity | Quick win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91840"/>
            <a:ext cx="12188952" cy="73152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4630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✓  9,994 records cleaned and analyzed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F50"/>
                </a:solidFill>
              </a:rPr>
              <a:t>✓  10 professional visualizations generated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19456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800"/>
                </a:solidFill>
              </a:rPr>
              <a:t>✓  10.98% overall profit margin identified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56032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</a:rPr>
              <a:t>✓  Key insight: Discounts above 20% are loss-making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92608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196F3"/>
                </a:solidFill>
              </a:rPr>
              <a:t>✓  3 actionable recommendations provided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9184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4CAF50"/>
                </a:solidFill>
              </a:rPr>
              <a:t>✓  Power BI dashboard preparation complete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3657600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9800"/>
                </a:solidFill>
              </a:rPr>
              <a:t>✓  GitHub documentation ready for submission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0292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9800"/>
                </a:solidFill>
              </a:rPr>
              <a:t>Questions &amp; Discussion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6692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FFFFFF"/>
                </a:solidFill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